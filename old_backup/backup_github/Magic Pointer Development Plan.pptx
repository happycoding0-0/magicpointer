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Noto Sans KR"/>
      <p:regular r:id="rId13"/>
      <p:bold r:id="rId14"/>
    </p:embeddedFont>
    <p:embeddedFont>
      <p:font typeface="Outfit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otoSansKR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utfit-regular.fntdata"/><Relationship Id="rId14" Type="http://schemas.openxmlformats.org/officeDocument/2006/relationships/font" Target="fonts/NotoSansKR-bold.fntdata"/><Relationship Id="rId16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9600019f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9600019fb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24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hyperlink" Target="http://www.youtube.com/watch?v=pZNzfQLgGsA" TargetMode="External"/><Relationship Id="rId6" Type="http://schemas.openxmlformats.org/officeDocument/2006/relationships/image" Target="../media/image20.jp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3" Type="http://schemas.openxmlformats.org/officeDocument/2006/relationships/image" Target="../media/image13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5" Type="http://schemas.openxmlformats.org/officeDocument/2006/relationships/image" Target="../media/image27.png"/><Relationship Id="rId1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26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71525" y="2780407"/>
            <a:ext cx="44055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Magic Pointer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3826725"/>
            <a:ext cx="681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관심사의 분리(SoC) 기반의 독립형 자바스크립트 라이브러리 개발 기획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85825" y="4372867"/>
            <a:ext cx="1095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발표자: 이지우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771525" y="4372867"/>
            <a:ext cx="28575" cy="2476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90562"/>
            <a:ext cx="300037" cy="30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4"/>
          <p:cNvGrpSpPr/>
          <p:nvPr/>
        </p:nvGrpSpPr>
        <p:grpSpPr>
          <a:xfrm>
            <a:off x="6581975" y="1019633"/>
            <a:ext cx="5133975" cy="5591282"/>
            <a:chOff x="771525" y="2507158"/>
            <a:chExt cx="5133975" cy="5591282"/>
          </a:xfrm>
        </p:grpSpPr>
        <p:pic>
          <p:nvPicPr>
            <p:cNvPr descr="image.png" id="96" name="Google Shape;96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1525" y="2507158"/>
              <a:ext cx="5133975" cy="2700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97" name="Google Shape;97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1525" y="5397508"/>
              <a:ext cx="5133974" cy="27009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4"/>
            <p:cNvSpPr txBox="1"/>
            <p:nvPr/>
          </p:nvSpPr>
          <p:spPr>
            <a:xfrm>
              <a:off x="1114425" y="2850058"/>
              <a:ext cx="46707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1세대 Lose My Mind</a:t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1114425" y="3373933"/>
              <a:ext cx="44481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2025.12 </a:t>
              </a:r>
              <a:r>
                <a:rPr lang="en-US" sz="1125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크롬 확장도구 개발</a:t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114425" y="5740408"/>
              <a:ext cx="46707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해결해야 할 기술적 부채</a:t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1114425" y="6264283"/>
              <a:ext cx="44481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8717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이번 연구의 핵심 도약 지점</a:t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419225" y="3745408"/>
              <a:ext cx="41433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드래그 기반 텍스트 추출의 핵심 가능성 </a:t>
              </a:r>
              <a:r>
                <a:rPr lang="en-US" sz="1275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확인</a:t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419225" y="4175819"/>
              <a:ext cx="41433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브라우저 확장형 모델을 통한 사용성 사전 검증</a:t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419225" y="6635758"/>
              <a:ext cx="41433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조작 마찰:</a:t>
              </a:r>
              <a:r>
                <a:rPr b="0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정밀한 드래그 조작의 고질적 물리 피로감</a:t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1419225" y="7066169"/>
              <a:ext cx="41433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강한 결합:</a:t>
              </a:r>
              <a:r>
                <a:rPr b="0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단일 파일 내 코드 뒤엉킴으로 재사용성 전무</a:t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1419225" y="7496580"/>
              <a:ext cx="4143300" cy="19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통제력 회복:</a:t>
              </a:r>
              <a:r>
                <a:rPr b="0" i="0" lang="en-US" sz="1275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AI 의존 아키텍처 탈피, 독자적 설계 지향</a:t>
              </a:r>
              <a:endParaRPr/>
            </a:p>
          </p:txBody>
        </p:sp>
        <p:pic>
          <p:nvPicPr>
            <p:cNvPr descr="image.png" id="107" name="Google Shape;107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14425" y="3783508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08" name="Google Shape;10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14425" y="4213919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09" name="Google Shape;10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14425" y="6669096"/>
              <a:ext cx="17145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10" name="Google Shape;110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14425" y="7099507"/>
              <a:ext cx="17145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11" name="Google Shape;111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114425" y="7529917"/>
              <a:ext cx="171450" cy="180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4"/>
          <p:cNvSpPr txBox="1"/>
          <p:nvPr/>
        </p:nvSpPr>
        <p:spPr>
          <a:xfrm>
            <a:off x="737862" y="1175750"/>
            <a:ext cx="1071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프로젝트 배경 및 과거</a:t>
            </a:r>
            <a:endParaRPr/>
          </a:p>
        </p:txBody>
      </p:sp>
      <p:pic>
        <p:nvPicPr>
          <p:cNvPr id="113" name="Google Shape;113;p14" title="s-blob-v1-IMAGE-H8DgACGdm9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1525" y="2287912"/>
            <a:ext cx="5395551" cy="228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71525" y="4766875"/>
            <a:ext cx="39318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마우스 드래그 기반 언어 학습 도구     (2025.12 개발)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69812" y="1790100"/>
            <a:ext cx="5125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글로벌 기술 동향 &amp; 목표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690562"/>
            <a:ext cx="30003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mouse pointer 🖱️ has been a constant companion on computer screens, across every website, document and workflow. Despite how technologies have changed, the pointer has barely evolved in more than half a century. &#10;&#10;We’ve been exploring new AI-powered capabilities and ways of working to help the pointer not only understand what it’s pointing at, but also why it matters.&#10;&#10;See how to try it out @ https://deepmind.google/blog/ai-pointer&#10;&#10;___&#10;&#10;Subscribe to our channel https://www.youtube.com/@googledeepmind&#10;Find us on X https://twitter.com/GoogleDeepMind&#10;Follow us on Instagram https://instagram.com/googledeepmind&#10;Add us on Linkedin https://www.linkedin.com/company/deepmind/" id="122" name="Google Shape;122;p15" title="Reimagining the mouse pointer with AI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6225" y="2228700"/>
            <a:ext cx="5797725" cy="3261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5"/>
          <p:cNvGrpSpPr/>
          <p:nvPr/>
        </p:nvGrpSpPr>
        <p:grpSpPr>
          <a:xfrm>
            <a:off x="569788" y="2744226"/>
            <a:ext cx="5324438" cy="2795097"/>
            <a:chOff x="569788" y="2744226"/>
            <a:chExt cx="5324438" cy="2795097"/>
          </a:xfrm>
        </p:grpSpPr>
        <p:sp>
          <p:nvSpPr>
            <p:cNvPr id="124" name="Google Shape;124;p15"/>
            <p:cNvSpPr txBox="1"/>
            <p:nvPr/>
          </p:nvSpPr>
          <p:spPr>
            <a:xfrm>
              <a:off x="569788" y="2744226"/>
              <a:ext cx="532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8BDF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GOOGLE DEEPMIND (2026.05)</a:t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569788" y="4786442"/>
              <a:ext cx="5324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4D39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MAGIC POINTER의 개발 목표</a:t>
              </a: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569788" y="5106423"/>
              <a:ext cx="5324400" cy="4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마우스를 글자 위에 올려두기만 해도 포인터 좌표를 분석해 실시간으로 텍스트를 자동 추출하는 드래그-프리(Drag-free) 독립형 라이브러리 완성.</a:t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874588" y="3064207"/>
              <a:ext cx="50196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우회로 방지:</a:t>
              </a:r>
              <a:r>
                <a:rPr b="0" i="0" lang="en-US" sz="1200" u="none" cap="none" strike="noStrik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화면 전환으로 발생하는 조작 마찰</a:t>
              </a:r>
              <a:endParaRPr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874588" y="3403208"/>
              <a:ext cx="50196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</a:rPr>
                <a:t>작업 흐름을 깨지 않는 '흐름 유지(Maintain the flow)' </a:t>
              </a:r>
              <a:r>
                <a:rPr b="1" lang="en-US" sz="1100">
                  <a:solidFill>
                    <a:schemeClr val="lt1"/>
                  </a:solidFill>
                </a:rPr>
                <a:t>인터랙션 원칙</a:t>
              </a:r>
              <a:r>
                <a:rPr lang="en-US" sz="1100">
                  <a:solidFill>
                    <a:schemeClr val="lt1"/>
                  </a:solidFill>
                </a:rPr>
                <a:t> 강조 </a:t>
              </a:r>
              <a:endParaRPr>
                <a:solidFill>
                  <a:schemeClr val="lt1"/>
                </a:solidFill>
              </a:endParaRPr>
            </a:p>
          </p:txBody>
        </p:sp>
        <p:pic>
          <p:nvPicPr>
            <p:cNvPr descr="image.png" id="129" name="Google Shape;129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9788" y="3097544"/>
              <a:ext cx="123825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30" name="Google Shape;130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9788" y="34365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5"/>
            <p:cNvSpPr txBox="1"/>
            <p:nvPr/>
          </p:nvSpPr>
          <p:spPr>
            <a:xfrm>
              <a:off x="874625" y="3715621"/>
              <a:ext cx="50196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마우스 인터랙션 : 인간이 기술에 적응하도록 강요하기보다, 인간의 행동에 적응하는 기술을 구축한다 -&gt; 마우스라는 직관적 인터랙션</a:t>
              </a:r>
              <a:endParaRPr sz="1300">
                <a:solidFill>
                  <a:schemeClr val="lt1"/>
                </a:solidFill>
              </a:endParaRPr>
            </a:p>
          </p:txBody>
        </p:sp>
        <p:pic>
          <p:nvPicPr>
            <p:cNvPr descr="image.png" id="132" name="Google Shape;132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9825" y="3748988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940647"/>
            <a:ext cx="1064895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226022"/>
            <a:ext cx="33909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0550" y="2226022"/>
            <a:ext cx="33909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9575" y="2226022"/>
            <a:ext cx="33909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690562"/>
            <a:ext cx="3381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23925" y="5093047"/>
            <a:ext cx="10344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각 모듈은 완전히 독립되어 간섭이 최소화되며 개별 업그레이드 및 라이브러리 재사용이 극대화됩니다.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33600" y="256892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916906" y="3426172"/>
            <a:ext cx="11001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UX Module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19175" y="3835747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마우스의 이동 궤적과 사용자 모션을 실시간 모니터링하는 트리거 채널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62625" y="256892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455920" y="3426172"/>
            <a:ext cx="128016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Core Module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648200" y="3835747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포인터 좌표 데이터로부터 순수 텍스트를 추출하는 엔진 알맹이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91650" y="256892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9224962" y="3426172"/>
            <a:ext cx="100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UI Module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277225" y="3835747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추출 정보를 사용자 환경에 동적 및 가변적으로 표시하는 프리젠테이션 레이어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771775" y="514067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71725" y="2749897"/>
            <a:ext cx="190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43600" y="274989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553575" y="274989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252537" y="581025"/>
            <a:ext cx="10676334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핵심 설계: 독립 모듈 구조 기획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6390" y="3309937"/>
            <a:ext cx="8519070" cy="2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90562"/>
            <a:ext cx="3762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71525" y="2928937"/>
            <a:ext cx="31945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STEP 1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2254448" y="3386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91660" y="3852862"/>
            <a:ext cx="335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마우스</a:t>
            </a:r>
            <a:r>
              <a:rPr b="1" lang="en-US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 포인터 감시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66775" y="4243387"/>
            <a:ext cx="30040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addEventListener 기반의 정밀 포인팅 추적 및 제스처 유효성 검증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498627" y="2928937"/>
            <a:ext cx="31945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STEP 2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981551" y="3386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4418762" y="3852862"/>
            <a:ext cx="335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텍스트 추출 코어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4593877" y="4243387"/>
            <a:ext cx="30040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caretRangeFromPoint(x, y)를 활용하여 좌표 아래의 텍스트 노드를 드래그 없이 정밀 채굴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225730" y="2928937"/>
            <a:ext cx="319459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4D399"/>
                </a:solidFill>
                <a:latin typeface="Outfit"/>
                <a:ea typeface="Outfit"/>
                <a:cs typeface="Outfit"/>
                <a:sym typeface="Outfit"/>
              </a:rPr>
              <a:t>STEP 3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9708653" y="33861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8145865" y="3852862"/>
            <a:ext cx="33543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가변 렌더링 UI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20980" y="4243387"/>
            <a:ext cx="30040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추출된 데이터 길이에 맞춰 다이내믹하게 반응하는 컴포넌트 렌더링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290637" y="581025"/>
            <a:ext cx="10636329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기술적 구현 및 파이프라인 기획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33935"/>
            <a:ext cx="5133975" cy="2847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33935"/>
            <a:ext cx="5133975" cy="28473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90562"/>
            <a:ext cx="3000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1114425" y="2776835"/>
            <a:ext cx="467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기대효과 및 </a:t>
            </a:r>
            <a:r>
              <a:rPr b="1" lang="en-US" sz="19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확장성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29400" y="2776835"/>
            <a:ext cx="4670583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개발 타임라인 계획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419225" y="3300710"/>
            <a:ext cx="414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UX 해방: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드래그</a:t>
            </a:r>
            <a:r>
              <a:rPr lang="en-US" sz="1275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b="0" i="0" lang="en-US" sz="12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단 1회 포인팅으로 종결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419225" y="3731121"/>
            <a:ext cx="4143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확장: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마우스를 '시선 추적(Eye Tracking)' 부품으로 즉시 다변화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419225" y="4420492"/>
            <a:ext cx="4143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추출 다변화:</a:t>
            </a:r>
            <a:r>
              <a:rPr b="0" i="0" lang="en-US" sz="1275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텍스트 노드를 이미지 리더 'OCR 모듈'로 교체 용이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934200" y="3300710"/>
            <a:ext cx="4143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[1단계] 모듈 분리 설계:</a:t>
            </a:r>
            <a:r>
              <a:rPr b="0" i="0" lang="en-US" sz="127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인터페이스 아키텍처 빌드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934200" y="3731121"/>
            <a:ext cx="4143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[2단계] 코어 엔진 최적화:</a:t>
            </a:r>
            <a:r>
              <a:rPr b="0" i="0" lang="en-US" sz="127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타겟 검증 및 성능 테스트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934200" y="4161532"/>
            <a:ext cx="414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[3단계] 통합 라이브러리 배포:</a:t>
            </a:r>
            <a:r>
              <a:rPr b="0" i="0" lang="en-US" sz="127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독립 </a:t>
            </a:r>
            <a:r>
              <a:rPr lang="en-US" sz="127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라이브러리 </a:t>
            </a:r>
            <a:r>
              <a:rPr b="0" i="0" lang="en-US" sz="1275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완료</a:t>
            </a:r>
            <a:endParaRPr/>
          </a:p>
        </p:txBody>
      </p:sp>
      <p:pic>
        <p:nvPicPr>
          <p:cNvPr descr="image.png" id="194" name="Google Shape;19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333404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376445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445383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214437" y="581025"/>
            <a:ext cx="1071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기대 효과 및 </a:t>
            </a:r>
            <a:r>
              <a:rPr b="1" lang="en-US" sz="2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미래 확장성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737862" y="3209700"/>
            <a:ext cx="107163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 &amp; A </a:t>
            </a:r>
            <a:endParaRPr b="1" sz="285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  <a:endParaRPr b="1" sz="285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